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talRoute" id="{1591E0FB-8148-31C7-9441-8BCA6809EE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Drive time</c:v>
                </c:pt>
              </c:strCache>
            </c:strRef>
          </c:tx>
          <c:spPr>
            <a:solidFill>
              <a:srgbClr val="1F6F78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Hospital A (closer)</c:v>
                </c:pt>
                <c:pt idx="1">
                  <c:v>Hospital B (farther)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02-454F-B69B-70A20A5C3B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Offload delay</c:v>
                </c:pt>
              </c:strCache>
            </c:strRef>
          </c:tx>
          <c:spPr>
            <a:solidFill>
              <a:srgbClr val="C8372D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Hospital A (closer)</c:v>
                </c:pt>
                <c:pt idx="1">
                  <c:v>Hospital B (farther)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02-454F-B69B-70A20A5C3B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1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t"/>
        <c:majorGridlines>
          <c:spPr>
            <a:ln w="9525" cap="flat">
              <a:solidFill>
                <a:srgbClr val="D5DA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7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95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C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VitalRoute  ·  AI Forge Expo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AI FORGE EXPO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VitalRoute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Confidence-Aware Emergency Destination Orchestration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SDG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743200" y="3520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3 — Good Health and Well-Being (Single-SDG Focus)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48640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CATEGORY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74320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Technology / Emergency Care Coordination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31520" y="456901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743200" y="4572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RAPS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640080" y="507165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743200" y="5047581"/>
            <a:ext cx="5579706" cy="108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Akhila </a:t>
            </a:r>
            <a:r>
              <a:rPr lang="en-US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Pynam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Team Leader</a:t>
            </a:r>
            <a:b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Rithick S</a:t>
            </a:r>
            <a:b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Praveen Raj P</a:t>
            </a:r>
            <a:b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Steffy J P</a:t>
            </a:r>
          </a:p>
        </p:txBody>
      </p:sp>
      <p:sp>
        <p:nvSpPr>
          <p:cNvPr id="15" name="Shape 13"/>
          <p:cNvSpPr/>
          <p:nvPr/>
        </p:nvSpPr>
        <p:spPr>
          <a:xfrm>
            <a:off x="9052560" y="914400"/>
            <a:ext cx="1645920" cy="10058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H="1">
            <a:off x="9601200" y="1920240"/>
            <a:ext cx="1097280" cy="137160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601200" y="3291840"/>
            <a:ext cx="1463040" cy="11887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924544" y="786384"/>
            <a:ext cx="256032" cy="25603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70464" y="1792224"/>
            <a:ext cx="256032" cy="25603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73184" y="3163824"/>
            <a:ext cx="256032" cy="25603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0" y="4114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69848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+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206240" cy="4663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REAL-WORLD PROBLEM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Handoff Bottleneck &amp; Blind Dispatch Crisis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39776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hospitals based only on road distance or reported bed counts leads ambulances straight into saturated emergency rooms with massive offload delays.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12064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affected?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949440" y="1600200"/>
            <a:ext cx="4690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emergency patients — STEMI cardiac arrest, acute ischemic stroke, polytrauma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Paramedics delayed in hospital hallways waiting to transfer patients off their stretchers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ER triage teams receiving unannounced critical patients without mobilized trauma bays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12064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&amp; when does it occur?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949440" y="361188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Metropolitan and suburban healthcare networks during peak hours, where hospital capacity data updates asynchronously.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20640" y="3520440"/>
            <a:ext cx="6519672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949440" y="4892040"/>
            <a:ext cx="4690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clinical “Golden Hour” is lost: the fastest driving route often results in the slowest medical care if the destination has a 45-minute hallway boarding queue.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20640" y="4800600"/>
            <a:ext cx="6519672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EVIDENCE AND RESEARCH GROUNDING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established literature tells us (2024–2026):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 selection based on travel time and static ED congestion has already been studied. The unsolved operational failure points lie in data staleness, offload delays, and unilateral dispatch.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to </a:t>
            </a:r>
            <a:r>
              <a:rPr lang="en-US" sz="6000" b="1" dirty="0">
                <a:solidFill>
                  <a:schemeClr val="accent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40%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Ambulance Offload Delays (AOD)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of ambulance operational hours in high-volume regions lost to hospital stretcher delays.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Annals of Emergency Medicine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357116" y="2468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30%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357116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mortality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357116" y="3886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Inter-hospital secondary transfers increase acute patient mortality by up to 30% due to care fragmentation.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357116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Lancet Global Health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65592" y="2468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30–60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65592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staleness gap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165592" y="3886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bed reporting often lags by this much, turning nominal capacity into “phantom beds.”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9167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DEFENSIBLE RESEARCH QUESTION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“Can explicitly modelling hospital-data uncertainty and requiring readiness confirmation improve the reliability of emergency destination recommendations compared with routing based on reported capacity, treatment capability, and travel time alone?”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ALIGNMENT (SDG 3: Good Health and Well-Being)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291840" cy="46634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chemeClr val="bg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3</a:t>
            </a:r>
            <a:endParaRPr lang="en-US" sz="1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Health and Well-Being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SDG · Single-SDG focus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2976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SDG TARGETS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297680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3.6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577840" y="1993392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3.6: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Halve global road traffic trauma fatalities and severe injuries through rapid, coordinated emergency intervention.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297680" y="31089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3.8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577840" y="3182112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3.8: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universal access to high-quality essential healthcare services and critical emergency interventions.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97680" y="2971800"/>
            <a:ext cx="7342632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4251960"/>
            <a:ext cx="7342632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SDG 3 IS THE SOLE DEFENSIBLE CLASSIFICATION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297680" y="48463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While the platform touches routing and transit, its primary objective and sole measurable outcome is saving human lives and accelerating definitive medical treatment.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 AND THE UNSOLVED GAP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METHODS &amp; SOLUTIONS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234440" y="1920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Consumer GPS (Google Maps / Waze)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34440" y="23317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Optimizes strictly for driving distance; blind to hospital bed availability or clinical capabilities.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630936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Static Bed Dashboards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34440" y="3749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raw reported bed counts without data freshness indicators or uncertainty metrics.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630936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234440" y="4754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Unilateral Dispatch Systems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34440" y="51663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Dispatchers push ambulances to hospitals without verifying if specialist teams are scrubbed in.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31520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CRITICAL LIMITATIONS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315200" y="1920240"/>
            <a:ext cx="4325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 stale data as absolute ground truth.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Ignore ambulance offload delays (confuse “wheel-stop time” with “care-start time”).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0" y="3840480"/>
            <a:ext cx="4325112" cy="2331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GAP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589520" y="438912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a closed-loop system that models data confidence, optimizes for Time-to-Definitive-Care (TTDC), and enforces a two-way readiness handshake.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– Vital Route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Recommends the hospital expected to deliver appropriate medical care sooner, while explicitly accounting for data staleness and securing a pre-arrival readiness confirmation before destination lock.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8076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4 INTEGRATED PILLARS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454396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417320" y="2990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Capacity-Confidence Engine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417320" y="335584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temporal decay curves F(t) = e</a:t>
            </a:r>
            <a:r>
              <a:rPr lang="en-US" sz="14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−λΔt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hospital data; stale counts trigger confirmation requirements.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85916" y="2788920"/>
            <a:ext cx="5454396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4516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14516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054596" y="2990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Time-to-Definitive-Care (TTDC) Optimizer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054596" y="335584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Minimizes TTDC = T</a:t>
            </a:r>
            <a:r>
              <a:rPr lang="en-US" sz="1400" baseline="-4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T</a:t>
            </a:r>
            <a:r>
              <a:rPr lang="en-US" sz="1400" baseline="-4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Offload Delay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T</a:t>
            </a:r>
            <a:r>
              <a:rPr lang="en-US" sz="1400" baseline="-4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Specialist Prep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54396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417320" y="45445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Pre-Arrival Readiness Handshake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417320" y="491032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one-way dispatch into an asynchronous two-way confirmation protocol between ambulance and 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85916" y="4343400"/>
            <a:ext cx="5454396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4516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14516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054596" y="45445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Routing &amp; Counterfactuals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054596" y="491032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Transparent factor breakdown and interactive “What-If” sensitivity testing.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 AND THE DECISION PIPELINE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97280" y="1783080"/>
            <a:ext cx="18288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Patient Assessment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Paramedic enters clinical vitals. Clear protocol separation: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ESI Level (1–5)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ED triage planning and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NEWS2 Score (0–20)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physiological deterioration tracking.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92424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9242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41064" y="1783080"/>
            <a:ext cx="18288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392424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392424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Hospital State Validation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392424" y="3154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mandatory capability tags (#STEMI, #STROKE, #TRAUMA), evaluates bed counts, and calculates data freshness F(t).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36208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362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84848" y="1783080"/>
            <a:ext cx="18288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236208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236208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Destination Comparison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236208" y="3154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Evaluates composite TTDC score balancing driving duration, estimated offload wait, and specialist readiness.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79992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7999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079992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9079992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Readiness Handshake &amp; Clinical Review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079992" y="3154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Sends pre-arrival alert to receiving hospital; ER acknowledges readiness or reports constraints; paramedic confirms with full explainability.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91672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HANDSHAKE STATES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2960" y="5440680"/>
            <a:ext cx="1737360" cy="5029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440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UNCONFIRMED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06040" y="569214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17520" y="5440680"/>
            <a:ext cx="2377440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017520" y="5440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PENDING_RESPONSE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40680" y="5692140"/>
            <a:ext cx="3657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852160" y="5440680"/>
            <a:ext cx="1737360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852160" y="5440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CONFIRMED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7680960" y="5440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229600" y="5440680"/>
            <a:ext cx="315468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0" y="5440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CONSTRAINED_REROUTE_REQUESTED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67258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200" dirty="0">
                          <a:solidFill>
                            <a:schemeClr val="tx2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200" dirty="0">
                          <a:solidFill>
                            <a:schemeClr val="tx2"/>
                          </a:solidFill>
                        </a:rPr>
                        <a:t>TECHNOLOGY</a:t>
                      </a:r>
                      <a:endParaRPr lang="en-US" sz="11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200" dirty="0">
                          <a:solidFill>
                            <a:schemeClr val="tx2"/>
                          </a:solidFill>
                        </a:rPr>
                        <a:t>WHY IT FITS</a:t>
                      </a:r>
                      <a:endParaRPr lang="en-US" sz="11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Map Rendering &amp; Basemaps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OpenFreeMap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Free vector tiles. Zero API keys, accounts, rate limits or credit cards.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Interactive Map Engine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MapLibre GL JS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Open-source BSD-3-Clause renderer; 60fps hardware acceleration, zero tracking tokens.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Road Routing &amp; Geodesics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OSRM / Geopy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Pure-software street-network transit time. Zero Google Directions API charges.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Deterministic Clinical AI &amp; Optimization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Python 3.12, NumPy, SciPy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Freshness decay, TTDC matrices and utility ranking on CPU in &lt;15 ms. Zero LLM token costs.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Real-Time Data Layer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Native WebSockets (fastapi.WebSocket)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Bi-directional alerts on server TCP sockets. Zero Pusher/Twilio fees.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Client Sensor &amp; Alert Invariants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W3C HTML5 Geolocation + Web Audio API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Browser GPS watch stream on any phone; alert chimes synthesized in memory via OscillatorNode.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Database &amp; Persistence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SQLite / In-Memory State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Zero cloud database hosting fees.</a:t>
                      </a:r>
                      <a:endParaRPr lang="en-US" sz="14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PROTOTYPE/ WORKING DEMO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INTERACTIVE DEMONSTRATIONS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234440" y="1810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Confidence-Aware Triage Cockpit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Paramedic enters vitals; system flags Hospital A's bed count as stale (35 min old) and requests verification.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234440" y="29077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TTDC Advantage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34440" y="3246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Side-by-side: Hospital B (farther drive, zero offload queue) beats Hospital A (closer drive, 30-min hallway queue).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234440" y="40050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Two-Way Handshake Simulation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234440" y="43434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HUD receives incoming trauma chime; ER nurse clicks “Acknowledge Readiness” → destination confirmed live on paramedic screen.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234440" y="51023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&amp; Counterfactual Panel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234440" y="54406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sliders let judges toggle CT scanner availability or bed counts and observe instant, explainable rerouting.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66560" y="1508760"/>
            <a:ext cx="4873752" cy="4663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9516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TTDC ADVANTAGE · ILLUSTRATIVE, SYNTHETIC DATA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1062834522"/>
              </p:ext>
            </p:extLst>
          </p:nvPr>
        </p:nvGraphicFramePr>
        <p:xfrm>
          <a:off x="6858000" y="2011680"/>
          <a:ext cx="46634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6995160" y="5257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A: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+ 30 = 38 min to care
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B: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 + 0 = 14 min to care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 SELLING PROPOSITION (USP)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BEYOND NAIVE ROUTING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We do not claim dynamic routing itself is novel.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innovation is explicitly modeling data uncertainty and optimizing for care-start time rather than wheel-stop time.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5257800"/>
            <a:ext cx="40233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512064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0" y="5532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Wheel-stop time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17720" y="51206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23360" y="5532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Care-start time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64592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VitalRoute optimizes for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852160" y="1508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Two-Way Clinical Handshake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852160" y="19202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Eliminates unilateral dispatch surprises; receiving teams prepare trauma bays before arrival.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52160" y="2560320"/>
            <a:ext cx="5788152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2697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Auditable Explainability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852160" y="31089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transparent, defensible rationales for medical directors instead of unexplainable black-box AI recommendations.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52160" y="3749040"/>
            <a:ext cx="5788152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3886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Zero Hardware Barrier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852160" y="4297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web software running on existing paramedic smartphones and hospital desktop workstations.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52160" y="4937760"/>
            <a:ext cx="5788152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0" y="5074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100% Free &amp; Open-Source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852160" y="54864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financial barrier to entry for any resource-constrained municipal healthcare system.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SOCIETAL AND CLINICAL IMPACT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BENEFICIARIES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Acute Emergency Patients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 clinical Golden Hour; faster time to catheterization, thrombolysis, or emergency surgery.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603504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337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Paramedics / 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Drastic reduction in wasted hallway offload delays; faster return to operational service.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603504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754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Hospital Emergency Departments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52120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 warning to mobilize surgical teams and stage resuscitation bays.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040880" y="1508760"/>
            <a:ext cx="4599432" cy="4663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6092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MEASURABLE QUANTITATIVE KPIs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36092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18–30%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360920" y="2743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Time-to-Definitive-Care (TTDC)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60920" y="33192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65%+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360920" y="39593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ambulance offload delays exceeding 30 minutes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360920" y="453542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Zero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360920" y="517550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unverified routing to stale facilities without explicit handshake acknowledgment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360920" y="5897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Modeled simulation targets, not retrospective clinical results.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SCALABILITY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206240" cy="4663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CAPITAL COST (CAPEX)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Zero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investment; no vehicle retrofitting, black boxes, or wearable devices.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365760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794760"/>
            <a:ext cx="36576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COST (OPEX)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$0.00 / Month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029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Google Maps API bills, zero OpenAI token usage, zero paid database subscriptions.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21208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Deployment Feasibility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212080" y="1920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web/PWA rollout; emergency crews and hospitals access via secure web URLs without app store friction.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12080" y="2587752"/>
            <a:ext cx="6428232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Scalability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21208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Stateless, containerized FastAPI backend capable of orchestrating regional healthcare networks with sub-second latencies.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12080" y="3776472"/>
            <a:ext cx="6428232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Offline Resilience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212080" y="4297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PWA service workers cache clinical decision trees and protocol guidelines during cellular dead zones.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212080" y="5212080"/>
            <a:ext cx="6428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runs on free/open-source software or self-hosted servers. 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uses public OpenFreeMap and OSRM demo endpoints; at municipal scale, OSRM and tile servers are self-hosted via Docker on low-cost servers.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AND REFERENCE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 POSSIBILITIES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23444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Bi-directional EHR synchronization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3444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HL7 / FHIR pre-arrival payload standards.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39496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3444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Municipal Smart City integration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34440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traffic signal preemption corridors.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539496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23444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j-lt" pitchFamily="34" charset="-122"/>
                <a:cs typeface="Times New Roman" panose="02020603050405020304" pitchFamily="18" charset="0"/>
              </a:rPr>
              <a:t>Rural tele-triage corridors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34440" y="5074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primary health centers to tertiary medical colleges.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0" y="1508760"/>
            <a:ext cx="5056632" cy="4663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&amp; CLINICAL REFERENCES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858000" y="2148840"/>
            <a:ext cx="4526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Royal College of Physicians (UK): National Early Warning Score (NEWS) 2, 2020.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Agency for Healthcare Research and Quality (AHRQ): Emergency Severity Index (ESI) Implementation Handbook.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Annals of Emergency Medicine: Ambulance Offload Delays and Inpatient Boarding in Acute Care Networks, 2024.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ScienceDirect / Operations Research: Dynamic Ambulance Allocation and Multi-Hospital Destination Optimization, 2024–2026.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talRoute">
  <a:themeElements>
    <a:clrScheme name="VitalRoute">
      <a:dk1>
        <a:srgbClr val="1C2127"/>
      </a:dk1>
      <a:lt1>
        <a:srgbClr val="FFFFFF"/>
      </a:lt1>
      <a:dk2>
        <a:srgbClr val="5B6770"/>
      </a:dk2>
      <a:lt2>
        <a:srgbClr val="EEF1F2"/>
      </a:lt2>
      <a:accent1>
        <a:srgbClr val="C8372D"/>
      </a:accent1>
      <a:accent2>
        <a:srgbClr val="1F6F78"/>
      </a:accent2>
      <a:accent3>
        <a:srgbClr val="4C9F38"/>
      </a:accent3>
      <a:accent4>
        <a:srgbClr val="D98E04"/>
      </a:accent4>
      <a:accent5>
        <a:srgbClr val="8A949B"/>
      </a:accent5>
      <a:accent6>
        <a:srgbClr val="2F3B45"/>
      </a:accent6>
      <a:hlink>
        <a:srgbClr val="1F6F78"/>
      </a:hlink>
      <a:folHlink>
        <a:srgbClr val="5B6770"/>
      </a:folHlink>
    </a:clrScheme>
    <a:fontScheme name="VitalRou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1595</Words>
  <Application>Microsoft Office PowerPoint</Application>
  <PresentationFormat>Widescreen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Times New Roman</vt:lpstr>
      <vt:lpstr>VitalRoute</vt:lpstr>
      <vt:lpstr>PowerPoint Presentation</vt:lpstr>
      <vt:lpstr>PROBLEM STATEMENT</vt:lpstr>
      <vt:lpstr>PROBLEM EVIDENCE AND RESEARCH GROUNDING</vt:lpstr>
      <vt:lpstr>SDG ALIGNMENT (SDG 3: Good Health and Well-Being)</vt:lpstr>
      <vt:lpstr>EXISTING SOLUTION AND THE UNSOLVED GAP</vt:lpstr>
      <vt:lpstr>PROPOSED SOLUTION – Vital Route</vt:lpstr>
      <vt:lpstr>SYSTEM WORKFLOW AND THE DECISION PIPELINE</vt:lpstr>
      <vt:lpstr>TECHNOLOGY STACK</vt:lpstr>
      <vt:lpstr>PROTOTYPE/ WORKING DEMO</vt:lpstr>
      <vt:lpstr>INNOVATION AND UNIQUE SELLING PROPOSITION (USP)</vt:lpstr>
      <vt:lpstr>SOCIETAL AND CLINICAL IMPACT</vt:lpstr>
      <vt:lpstr>FEASIBILITY AND SCALABILITY</vt:lpstr>
      <vt:lpstr>FUTURE SCOPE AND REFERENCE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VitalRoute — AI Forge Expo</dc:title>
  <dc:subject>PptxGenJS Presentation</dc:subject>
  <dc:creator>PptxGenJS</dc:creator>
  <cp:lastModifiedBy>Praveen Raj P</cp:lastModifiedBy>
  <cp:revision>4</cp:revision>
  <dcterms:created xsi:type="dcterms:W3CDTF">2026-10-09T05:23:07Z</dcterms:created>
  <dcterms:modified xsi:type="dcterms:W3CDTF">2026-10-09T07:14:53Z</dcterms:modified>
</cp:coreProperties>
</file>